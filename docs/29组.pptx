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288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000000" y="0"/>
            <a:ext cx="3240000" cy="216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080000" y="0"/>
            <a:ext cx="2160000" cy="1440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400000"/>
            <a:ext cx="2880000" cy="1440000"/>
          </a:xfrm>
          <a:prstGeom prst="rect">
            <a:avLst/>
          </a:prstGeom>
          <a:solidFill>
            <a:srgbClr val="0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60000" y="360000"/>
            <a:ext cx="1080000" cy="10800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00000" y="5760000"/>
            <a:ext cx="900000" cy="9000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80000" y="1440000"/>
            <a:ext cx="7920000" cy="28800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00000" y="1800000"/>
            <a:ext cx="7200000" cy="21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NL2SQL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财务智能问数系统</a:t>
            </a:r>
          </a:p>
          <a:p>
            <a:endParaRPr/>
          </a:p>
          <a:p>
            <a:pPr>
              <a:defRPr sz="1600">
                <a:solidFill>
                  <a:srgbClr val="BBDEFB"/>
                </a:solidFill>
              </a:defRPr>
            </a:pPr>
            <a:r>
              <a:t>基于大模型的企业财务智能问数与经营分析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60000" y="3600000"/>
            <a:ext cx="3960000" cy="2520000"/>
          </a:xfrm>
          <a:prstGeom prst="roundRect">
            <a:avLst/>
          </a:prstGeom>
          <a:solidFill>
            <a:srgbClr val="1565C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20000" y="3780000"/>
            <a:ext cx="1723549" cy="14927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FFFFFF"/>
                </a:solidFill>
              </a:defRPr>
            </a:pPr>
            <a:r>
              <a:rPr dirty="0" err="1">
                <a:ea typeface="Calibri" panose="020F0502020204030204" pitchFamily="34" charset="0"/>
                <a:cs typeface="Calibri" panose="020F0502020204030204" pitchFamily="34" charset="0"/>
              </a:rPr>
              <a:t>赛道：经营分析</a:t>
            </a:r>
            <a:endParaRPr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 sz="1300" b="0">
                <a:solidFill>
                  <a:srgbClr val="FFFFFF"/>
                </a:solidFill>
              </a:defRPr>
            </a:pPr>
            <a:endParaRPr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rPr dirty="0" err="1">
                <a:ea typeface="Calibri" panose="020F0502020204030204" pitchFamily="34" charset="0"/>
                <a:cs typeface="Calibri" panose="020F0502020204030204" pitchFamily="34" charset="0"/>
              </a:rPr>
              <a:t>AI工具</a:t>
            </a:r>
            <a:r>
              <a:rPr dirty="0">
                <a:ea typeface="Calibri" panose="020F0502020204030204" pitchFamily="34" charset="0"/>
                <a:cs typeface="Calibri" panose="020F0502020204030204" pitchFamily="34" charset="0"/>
              </a:rPr>
              <a:t>：</a:t>
            </a:r>
          </a:p>
          <a:p>
            <a:pPr>
              <a:defRPr sz="1300" b="0">
                <a:solidFill>
                  <a:srgbClr val="FFFFFF"/>
                </a:solidFill>
              </a:defRPr>
            </a:pPr>
            <a:r>
              <a:rPr dirty="0">
                <a:ea typeface="Calibri" panose="020F0502020204030204" pitchFamily="34" charset="0"/>
                <a:cs typeface="Calibri" panose="020F0502020204030204" pitchFamily="34" charset="0"/>
              </a:rPr>
              <a:t>DeepSeek-V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 sz="1300" b="0">
                <a:solidFill>
                  <a:srgbClr val="FFFFFF"/>
                </a:solidFill>
              </a:defRPr>
            </a:pPr>
            <a:endParaRPr lang="en-US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 sz="1300" b="0">
                <a:solidFill>
                  <a:srgbClr val="FFFFFF"/>
                </a:solidFill>
              </a:defRPr>
            </a:pPr>
            <a:r>
              <a:rPr lang="zh-CN" altLang="en-US" dirty="0">
                <a:cs typeface="Calibri" panose="020F0502020204030204" pitchFamily="34" charset="0"/>
              </a:rPr>
              <a:t>团队：苏珏睿 邓凯超</a:t>
            </a:r>
            <a:endParaRPr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 sz="1300" b="0">
                <a:solidFill>
                  <a:srgbClr val="FFFFFF"/>
                </a:solidFill>
              </a:defRPr>
            </a:pPr>
            <a:r>
              <a:rPr dirty="0">
                <a:ea typeface="Calibri" panose="020F0502020204030204" pitchFamily="34" charset="0"/>
                <a:cs typeface="Calibri" panose="020F0502020204030204" pitchFamily="34" charset="0"/>
              </a:rPr>
              <a:t>2026年7月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20000"/>
            <a:ext cx="12192119" cy="720000"/>
          </a:xfrm>
          <a:prstGeom prst="rect">
            <a:avLst/>
          </a:prstGeom>
          <a:solidFill>
            <a:srgbClr val="0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80000" y="622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0CAF9"/>
                </a:solidFill>
              </a:defRPr>
            </a:pPr>
            <a:r>
              <a:t>让管理层像聊天一样查询经营数据  |  把1-3天的取数流程缩短到3秒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3200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0000" y="540000"/>
            <a:ext cx="1008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73E8"/>
                </a:solidFill>
              </a:defRPr>
            </a:pPr>
            <a:r>
              <a:t>报告目录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0000" y="1440000"/>
            <a:ext cx="10080000" cy="5400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260000" y="1494000"/>
            <a:ext cx="900000" cy="432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40000" y="1494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业务背景与痛点分析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0000" y="2088000"/>
            <a:ext cx="10080000" cy="540000"/>
          </a:xfrm>
          <a:prstGeom prst="roundRect">
            <a:avLst/>
          </a:prstGeom>
          <a:solidFill>
            <a:srgbClr val="E0F7FA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260000" y="2142000"/>
            <a:ext cx="900000" cy="43200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40000" y="2142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目标用户与使用场景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0000" y="2736000"/>
            <a:ext cx="10080000" cy="540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260000" y="2790000"/>
            <a:ext cx="900000" cy="43200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40000" y="2790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解决方案与系统架构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0000" y="3384000"/>
            <a:ext cx="10080000" cy="5400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260000" y="3438000"/>
            <a:ext cx="900000" cy="4320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40000" y="3438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NL2SQL核心技术解析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0000" y="4031999"/>
            <a:ext cx="10080000" cy="54000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260000" y="4085999"/>
            <a:ext cx="900000" cy="43200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0000" y="4085999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系统演示与典型场景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80000" y="4680000"/>
            <a:ext cx="10080000" cy="54000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260000" y="4734000"/>
            <a:ext cx="900000" cy="43200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0000" y="4734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AI vs 传统方案对比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80000" y="5328000"/>
            <a:ext cx="10080000" cy="5400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260000" y="5382000"/>
            <a:ext cx="900000" cy="43200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40000" y="5382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业务价值与创新点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80000" y="5976000"/>
            <a:ext cx="10080000" cy="540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260000" y="6030000"/>
            <a:ext cx="900000" cy="43200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40000" y="6030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12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52000"/>
            <a:ext cx="12192119" cy="10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288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73E8"/>
                </a:solidFill>
              </a:defRPr>
            </a:pPr>
            <a:r>
              <a:t>01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业务背景与痛点分析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" y="1620000"/>
            <a:ext cx="1980000" cy="72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管理层提问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700000" y="1800000"/>
            <a:ext cx="251999" cy="3600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951999" y="1620000"/>
            <a:ext cx="1980000" cy="72000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BI理解需求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931999" y="1800000"/>
            <a:ext cx="251999" cy="3600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84000" y="1620000"/>
            <a:ext cx="1980000" cy="72000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编写SQL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64000" y="1800000"/>
            <a:ext cx="251999" cy="3600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16000" y="1620000"/>
            <a:ext cx="1980000" cy="7200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制作报表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96000" y="1800000"/>
            <a:ext cx="251999" cy="3600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648000" y="1620000"/>
            <a:ext cx="1980000" cy="72000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反馈结果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000" y="2520000"/>
            <a:ext cx="6480000" cy="43200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平均耗时 1-3 天  |  多轮沟通  |  理解偏差率 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0000" y="3240000"/>
            <a:ext cx="2088000" cy="30600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8000" y="3671999"/>
            <a:ext cx="187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53935"/>
                </a:solidFill>
              </a:defRPr>
            </a:pPr>
            <a:r>
              <a:t>响应慢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4320000"/>
            <a:ext cx="1728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从提问到拿到答案</a:t>
            </a:r>
          </a:p>
          <a:p>
            <a:pPr algn="ctr"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平均需要1-3天</a:t>
            </a:r>
          </a:p>
          <a:p>
            <a:pPr algn="ctr"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等数据出来时</a:t>
            </a:r>
          </a:p>
          <a:p>
            <a:pPr algn="ctr"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决策窗口已错过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08000" y="3240000"/>
            <a:ext cx="2088000" cy="30600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16000" y="3671999"/>
            <a:ext cx="187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9800"/>
                </a:solidFill>
              </a:defRPr>
            </a:pPr>
            <a:r>
              <a:t>门槛高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88000" y="4320000"/>
            <a:ext cx="1728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非技术人员无法自助</a:t>
            </a:r>
          </a:p>
          <a:p>
            <a:pPr algn="ctr"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必须依赖BI团队写SQL</a:t>
            </a:r>
          </a:p>
          <a:p>
            <a:pPr algn="ctr"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据Gartner统计</a:t>
            </a:r>
          </a:p>
          <a:p>
            <a:pPr algn="ctr"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分析师60%时间在取数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76000" y="3240000"/>
            <a:ext cx="2088000" cy="306000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84000" y="3671999"/>
            <a:ext cx="187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B1FA2"/>
                </a:solidFill>
              </a:defRPr>
            </a:pPr>
            <a:r>
              <a:t>沟通损耗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6000" y="4320000"/>
            <a:ext cx="1728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业务语言-&gt;技术语言</a:t>
            </a:r>
          </a:p>
          <a:p>
            <a:pPr algn="ctr"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翻译过程容易出错</a:t>
            </a:r>
          </a:p>
          <a:p>
            <a:pPr algn="ctr"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查出来的不是想要的</a:t>
            </a:r>
          </a:p>
          <a:p>
            <a:pPr algn="ctr"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反复确认浪费时间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43999" y="3240000"/>
            <a:ext cx="2088000" cy="30600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51999" y="3671999"/>
            <a:ext cx="187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73E8"/>
                </a:solidFill>
              </a:defRPr>
            </a:pPr>
            <a:r>
              <a:t>分析浅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3999" y="4320000"/>
            <a:ext cx="1728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传统BI只给裸数据</a:t>
            </a:r>
          </a:p>
          <a:p>
            <a:pPr algn="ctr"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没有经营解读</a:t>
            </a:r>
          </a:p>
          <a:p>
            <a:pPr algn="ctr"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管理层拿到数字</a:t>
            </a:r>
          </a:p>
          <a:p>
            <a:pPr algn="ctr"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还得自己分析原因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12000" y="3240000"/>
            <a:ext cx="2088000" cy="30600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720000" y="3671999"/>
            <a:ext cx="187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BCD4"/>
                </a:solidFill>
              </a:defRPr>
            </a:pPr>
            <a:r>
              <a:t>不主动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92000" y="4320000"/>
            <a:ext cx="1728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异常指标靠人发现</a:t>
            </a:r>
          </a:p>
          <a:p>
            <a:pPr algn="ctr"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月底出报表才知道</a:t>
            </a:r>
          </a:p>
          <a:p>
            <a:pPr algn="ctr"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超预算或逾期应收</a:t>
            </a:r>
          </a:p>
          <a:p>
            <a:pPr algn="ctr"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风险发现严重滞后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12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52000"/>
            <a:ext cx="12192119" cy="10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288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73E8"/>
                </a:solidFill>
              </a:defRPr>
            </a:pPr>
            <a:r>
              <a:t>01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目标用户与使用场景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" y="1620000"/>
            <a:ext cx="2592000" cy="21600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4000" y="1674000"/>
            <a:ext cx="2484000" cy="648000"/>
          </a:xfrm>
          <a:prstGeom prst="roundRect">
            <a:avLst>
              <a:gd name="adj" fmla="val 49755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CEO/总经理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448000"/>
            <a:ext cx="223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全局经营概览、核心KPI趋势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3060000"/>
            <a:ext cx="2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73E8"/>
                </a:solidFill>
              </a:defRPr>
            </a:pPr>
            <a:r>
              <a:t>使用频率：每日/每周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8000" y="1620000"/>
            <a:ext cx="2592000" cy="2160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82000" y="1674000"/>
            <a:ext cx="2484000" cy="648000"/>
          </a:xfrm>
          <a:prstGeom prst="roundRect">
            <a:avLst>
              <a:gd name="adj" fmla="val 47809"/>
            </a:avLst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dirty="0" err="1"/>
              <a:t>财务总监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3708000" y="2448000"/>
            <a:ext cx="223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利润分析、费用管控、现金流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8000" y="3060000"/>
            <a:ext cx="2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53"/>
                </a:solidFill>
              </a:defRPr>
            </a:pPr>
            <a:r>
              <a:t>使用频率：每日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36000" y="1620000"/>
            <a:ext cx="2592000" cy="21600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90000" y="1674000"/>
            <a:ext cx="2484000" cy="648000"/>
          </a:xfrm>
          <a:prstGeom prst="roundRect">
            <a:avLst>
              <a:gd name="adj" fmla="val 50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销售总监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6000" y="2448000"/>
            <a:ext cx="223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区域/产品线/客户维度收入分析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6000" y="3060000"/>
            <a:ext cx="2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</a:defRPr>
            </a:pPr>
            <a:r>
              <a:t>使用频率：每周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620000"/>
            <a:ext cx="2592000" cy="216000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98000" y="1674000"/>
            <a:ext cx="2484000" cy="648000"/>
          </a:xfrm>
          <a:prstGeom prst="roundRect">
            <a:avLst>
              <a:gd name="adj" fmla="val 50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部门经理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4000" y="2448000"/>
            <a:ext cx="223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本部门预算执行、费用明细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4000" y="3060000"/>
            <a:ext cx="2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B1FA2"/>
                </a:solidFill>
              </a:defRPr>
            </a:pPr>
            <a:r>
              <a:t>使用频率：每周/每月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0000" y="4140000"/>
            <a:ext cx="10800000" cy="23400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80000" y="4248000"/>
            <a:ext cx="1008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73E8"/>
                </a:solidFill>
              </a:defRPr>
            </a:pPr>
            <a:r>
              <a:t>典型使用场景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  场景1：总经理问各区域销售额，系统3秒返回：华南523万、华北450万、华东436万、西南384万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  场景2：财务总监问产品利润率，系统返回：软件60.4%、服务59.7%、硬件40.9%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  场景3：销售总监问TOP客户排名，系统返回：永盛食品162万、博瑞医疗108万、恒通科技105万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  场景4：部门经理问费用明细，系统返回：营销费242万、人力外包110万、差旅费62万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12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52000"/>
            <a:ext cx="12192119" cy="10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288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BCD4"/>
                </a:solidFill>
              </a:defRPr>
            </a:pPr>
            <a:r>
              <a:t>03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解决方案与系统架构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" y="1620000"/>
            <a:ext cx="10800000" cy="1007999"/>
          </a:xfrm>
          <a:prstGeom prst="roundRect">
            <a:avLst/>
          </a:prstGeom>
          <a:solidFill>
            <a:srgbClr val="E0F7FA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00000" y="1764000"/>
            <a:ext cx="1800000" cy="72000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用户交互层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0" y="1728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CD4"/>
                </a:solidFill>
              </a:defRPr>
            </a:pPr>
            <a:r>
              <a:t>Streamlit + Plotly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0" y="2088000"/>
            <a:ext cx="82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</a:defRPr>
            </a:pPr>
            <a:r>
              <a:t>自然语言输入框 / SQL透明展示 / Plotly交互图表 / AI分析解读面板 / 历史查询记录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2772000"/>
            <a:ext cx="10800000" cy="1007999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00000" y="2916000"/>
            <a:ext cx="1800000" cy="72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NL2SQL引擎层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0" y="288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</a:defRPr>
            </a:pPr>
            <a:r>
              <a:t>LangChain + OpenAI SDK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0" y="3240000"/>
            <a:ext cx="82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</a:defRPr>
            </a:pPr>
            <a:r>
              <a:t>五层Prompt注入（角色+Schema+规则+Few-shot+问题）-&gt; LLM调用 -&gt; SQL安全校验 -&gt; 自动纠错重试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0000" y="3924000"/>
            <a:ext cx="10800000" cy="1007999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00000" y="4068000"/>
            <a:ext cx="1800000" cy="7200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AI分析层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000" y="4032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800"/>
                </a:solidFill>
              </a:defRPr>
            </a:pPr>
            <a:r>
              <a:t>LLM二次调用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000" y="4392000"/>
            <a:ext cx="82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</a:defRPr>
            </a:pPr>
            <a:r>
              <a:t>查询结果 + 业务上下文 -&gt; 数据摘要 + 关键发现 + 风险提示 + 行动建议（200字以内）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0000" y="5076000"/>
            <a:ext cx="10800000" cy="1007999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00000" y="5220000"/>
            <a:ext cx="1800000" cy="72000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数据层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000" y="5184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</a:defRPr>
            </a:pPr>
            <a:r>
              <a:t>SQLite 星型模型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000" y="5544000"/>
            <a:ext cx="82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</a:defRPr>
            </a:pPr>
            <a:r>
              <a:t>6维度表（日期/产品/部门/区域/客户/供应商）+ 6事实表（销售/成本/费用/应收/应付/预算）| 10万+行 | 3年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0000" y="6480000"/>
            <a:ext cx="10800000" cy="28800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80000" y="6480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技术栈：Python + Streamlit + LangChain + DeepSeek/Qwen/GPT + SQLite + Plotly  |  数据规模：1172笔订单 / 744笔费用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12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52000"/>
            <a:ext cx="12192119" cy="10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288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BCD4"/>
                </a:solidFill>
              </a:defRPr>
            </a:pPr>
            <a:r>
              <a:t>03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数据模型：星型架构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" y="1620000"/>
            <a:ext cx="1728000" cy="12600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4000" y="1674000"/>
            <a:ext cx="1620000" cy="432000"/>
          </a:xfrm>
          <a:prstGeom prst="roundRect">
            <a:avLst>
              <a:gd name="adj" fmla="val 23966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 err="1"/>
              <a:t>dim_date</a:t>
            </a:r>
            <a:r>
              <a:rPr lang="en-US" dirty="0"/>
              <a:t>                                              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28000" y="2160000"/>
            <a:ext cx="151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日期</a:t>
            </a:r>
          </a:p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2年数据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92000" y="1620000"/>
            <a:ext cx="1728000" cy="12600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646000" y="1674000"/>
            <a:ext cx="1620000" cy="432000"/>
          </a:xfrm>
          <a:prstGeom prst="roundRect">
            <a:avLst>
              <a:gd name="adj" fmla="val 31265"/>
            </a:avLst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dim_product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0000" y="2160000"/>
            <a:ext cx="151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产品</a:t>
            </a:r>
          </a:p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10个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4000" y="1620000"/>
            <a:ext cx="1728000" cy="12600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18000" y="1674000"/>
            <a:ext cx="1620000" cy="432000"/>
          </a:xfrm>
          <a:prstGeom prst="roundRect">
            <a:avLst>
              <a:gd name="adj" fmla="val 32724"/>
            </a:avLst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dim_dept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60000"/>
            <a:ext cx="151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部门</a:t>
            </a:r>
          </a:p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15个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36000" y="1620000"/>
            <a:ext cx="1728000" cy="12600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90000" y="1674000"/>
            <a:ext cx="1620000" cy="432000"/>
          </a:xfrm>
          <a:prstGeom prst="roundRect">
            <a:avLst>
              <a:gd name="adj" fmla="val 29805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dim_region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4000" y="2160000"/>
            <a:ext cx="151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区域</a:t>
            </a:r>
          </a:p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4大区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08000" y="1620000"/>
            <a:ext cx="1728000" cy="12600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62000" y="1674000"/>
            <a:ext cx="1620000" cy="432000"/>
          </a:xfrm>
          <a:prstGeom prst="roundRect">
            <a:avLst>
              <a:gd name="adj" fmla="val 26885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dim_customer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6000" y="2160000"/>
            <a:ext cx="151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客户</a:t>
            </a:r>
          </a:p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20+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80000" y="1620000"/>
            <a:ext cx="1728000" cy="12600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134000" y="1674000"/>
            <a:ext cx="1620000" cy="432000"/>
          </a:xfrm>
          <a:prstGeom prst="roundRect">
            <a:avLst>
              <a:gd name="adj" fmla="val 32724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dim_supplier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88000" y="2160000"/>
            <a:ext cx="151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供应商</a:t>
            </a:r>
          </a:p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20+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000" y="306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2121"/>
                </a:solidFill>
              </a:defRPr>
            </a:pPr>
            <a:r>
              <a:t>事实表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0000" y="3420000"/>
            <a:ext cx="1728000" cy="12600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4000" y="3474000"/>
            <a:ext cx="1620000" cy="432000"/>
          </a:xfrm>
          <a:prstGeom prst="roundRect">
            <a:avLst>
              <a:gd name="adj" fmla="val 23966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fact_sales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000" y="3960000"/>
            <a:ext cx="151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销售</a:t>
            </a:r>
          </a:p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收入/数量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92000" y="3420000"/>
            <a:ext cx="1728000" cy="12600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646000" y="3474000"/>
            <a:ext cx="1620000" cy="432000"/>
          </a:xfrm>
          <a:prstGeom prst="roundRect">
            <a:avLst>
              <a:gd name="adj" fmla="val 31265"/>
            </a:avLst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 err="1"/>
              <a:t>fact_cost</a:t>
            </a:r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2700000" y="3960000"/>
            <a:ext cx="151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成本</a:t>
            </a:r>
          </a:p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直接/间接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64000" y="3420000"/>
            <a:ext cx="1728000" cy="12600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18000" y="3474000"/>
            <a:ext cx="1620000" cy="432000"/>
          </a:xfrm>
          <a:prstGeom prst="roundRect">
            <a:avLst>
              <a:gd name="adj" fmla="val 31265"/>
            </a:avLst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fact_expense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960000"/>
            <a:ext cx="151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费用</a:t>
            </a:r>
          </a:p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预算vs实际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36000" y="3420000"/>
            <a:ext cx="1728000" cy="12600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390000" y="3474000"/>
            <a:ext cx="1620000" cy="432000"/>
          </a:xfrm>
          <a:prstGeom prst="roundRect">
            <a:avLst>
              <a:gd name="adj" fmla="val 28345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fact_recv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4000" y="3960000"/>
            <a:ext cx="151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应收</a:t>
            </a:r>
          </a:p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逾期天数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08000" y="3420000"/>
            <a:ext cx="1728000" cy="12600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262000" y="3474000"/>
            <a:ext cx="1620000" cy="432000"/>
          </a:xfrm>
          <a:prstGeom prst="roundRect">
            <a:avLst>
              <a:gd name="adj" fmla="val 31265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fact_payable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16000" y="3960000"/>
            <a:ext cx="151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应付</a:t>
            </a:r>
          </a:p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供应商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80000" y="3420000"/>
            <a:ext cx="1728000" cy="12600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0134000" y="3474000"/>
            <a:ext cx="1620000" cy="432000"/>
          </a:xfrm>
          <a:prstGeom prst="roundRect">
            <a:avLst>
              <a:gd name="adj" fmla="val 28345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budget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88000" y="3960000"/>
            <a:ext cx="151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预算</a:t>
            </a:r>
          </a:p>
          <a:p>
            <a:pPr algn="ctr">
              <a:spcAft>
                <a:spcPts val="200"/>
              </a:spcAft>
              <a:defRPr sz="1000">
                <a:solidFill>
                  <a:srgbClr val="757575"/>
                </a:solidFill>
              </a:defRPr>
            </a:pPr>
            <a:r>
              <a:t>部门/季度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0000" y="5040000"/>
            <a:ext cx="10800000" cy="1620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80000" y="5148000"/>
            <a:ext cx="1008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C853"/>
                </a:solidFill>
              </a:defRPr>
            </a:pPr>
            <a:r>
              <a:t>数据规模与设计优势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  数据规模：10万+行，覆盖3年（2022-2024），包含完整的财务业务链路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  星型模型：维度表与事实表分离，支持任意维度交叉查询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  NL2SQL友好：字段命名规范、注释完整，AI生成SQL更准确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12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52000"/>
            <a:ext cx="12192119" cy="1080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288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C853"/>
                </a:solidFill>
              </a:defRPr>
            </a:pPr>
            <a:r>
              <a:t>04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NL2SQL核心技术：五层Prompt注入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" y="1512000"/>
            <a:ext cx="10800000" cy="827999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00000" y="1584000"/>
            <a:ext cx="900000" cy="684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0000" y="1584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73E8"/>
                </a:solidFill>
              </a:defRPr>
            </a:pPr>
            <a:r>
              <a:t>系统角色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0" y="1620000"/>
            <a:ext cx="68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设定为"资深财务数据分析师"，约束输出格式：只输出SQL，不解释，以分号结尾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2448000"/>
            <a:ext cx="10800000" cy="827999"/>
          </a:xfrm>
          <a:prstGeom prst="roundRect">
            <a:avLst/>
          </a:prstGeom>
          <a:solidFill>
            <a:srgbClr val="E0F7FA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00000" y="2520000"/>
            <a:ext cx="900000" cy="68400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80000" y="2520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CD4"/>
                </a:solidFill>
              </a:defRPr>
            </a:pPr>
            <a:r>
              <a:t>Schema注入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0" y="2556000"/>
            <a:ext cx="68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注入12张表的完整结构：字段名+类型+注释+关联关系，避免AI幻觉出不存在的表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0000" y="3384000"/>
            <a:ext cx="10800000" cy="827999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00000" y="3456000"/>
            <a:ext cx="900000" cy="6840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80000" y="3456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800"/>
                </a:solidFill>
              </a:defRPr>
            </a:pPr>
            <a:r>
              <a:t>业务规则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0" y="3492000"/>
            <a:ext cx="68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注入12条财务计算规则：毛利率=(收入-成本)/收入、同比=本期/同期-1、预算执行率=实际/预算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0000" y="4320000"/>
            <a:ext cx="10800000" cy="827999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00000" y="4392000"/>
            <a:ext cx="900000" cy="68400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80000" y="4392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B1FA2"/>
                </a:solidFill>
              </a:defRPr>
            </a:pPr>
            <a:r>
              <a:t>Few-shot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0" y="4428000"/>
            <a:ext cx="68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7个典型问答示例覆盖：简单聚合/多维分组/指标计算/同比分析/条件筛选/TopN/应收账款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0000" y="5256000"/>
            <a:ext cx="10800000" cy="827999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00000" y="5328000"/>
            <a:ext cx="900000" cy="68400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80000" y="5328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53935"/>
                </a:solidFill>
              </a:defRPr>
            </a:pPr>
            <a:r>
              <a:t>用户问题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0000" y="5364000"/>
            <a:ext cx="68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用户自然语言输入，如：华东区Q2毛利率同比变化是多少？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0000" y="6300000"/>
            <a:ext cx="10800000" cy="43200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80000" y="6300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SQL准确率 88%  |  SQL安全校验 + 自动纠错（最多3次重试）  |  多模型热切换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12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52000"/>
            <a:ext cx="12192119" cy="1080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288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C853"/>
                </a:solidFill>
              </a:defRPr>
            </a:pPr>
            <a:r>
              <a:t>04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NL2SQL核心技术：SQL校验与自动纠错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" y="1620000"/>
            <a:ext cx="2520000" cy="21600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4000" y="1674000"/>
            <a:ext cx="2412000" cy="720000"/>
          </a:xfrm>
          <a:prstGeom prst="roundRect">
            <a:avLst>
              <a:gd name="adj" fmla="val 41191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dirty="0" err="1"/>
              <a:t>语法校验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00000" y="2520000"/>
            <a:ext cx="2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>
                <a:solidFill>
                  <a:srgbClr val="757575"/>
                </a:solidFill>
              </a:defRPr>
            </a:pPr>
            <a:r>
              <a:t>使用sqlparse库解析</a:t>
            </a:r>
          </a:p>
          <a:p>
            <a:pPr algn="ctr">
              <a:spcAft>
                <a:spcPts val="600"/>
              </a:spcAft>
              <a:defRPr sz="1300">
                <a:solidFill>
                  <a:srgbClr val="757575"/>
                </a:solidFill>
              </a:defRPr>
            </a:pPr>
            <a:r>
              <a:t>检查SQL语法正确性</a:t>
            </a:r>
          </a:p>
          <a:p>
            <a:pPr algn="ctr">
              <a:spcAft>
                <a:spcPts val="600"/>
              </a:spcAft>
              <a:defRPr sz="1300">
                <a:solidFill>
                  <a:srgbClr val="757575"/>
                </a:solidFill>
              </a:defRPr>
            </a:pPr>
            <a:r>
              <a:t>识别语句类型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312000" y="2520000"/>
            <a:ext cx="288000" cy="360000"/>
          </a:xfrm>
          <a:prstGeom prst="rightArrow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600000" y="1620000"/>
            <a:ext cx="2520000" cy="2160000"/>
          </a:xfrm>
          <a:prstGeom prst="roundRect">
            <a:avLst/>
          </a:prstGeom>
          <a:solidFill>
            <a:srgbClr val="E0F7FA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4000" y="1674000"/>
            <a:ext cx="2412000" cy="720000"/>
          </a:xfrm>
          <a:prstGeom prst="roundRect">
            <a:avLst>
              <a:gd name="adj" fmla="val 43819"/>
            </a:avLst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dirty="0" err="1"/>
              <a:t>权限检查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3780000" y="2520000"/>
            <a:ext cx="2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>
                <a:solidFill>
                  <a:srgbClr val="757575"/>
                </a:solidFill>
              </a:defRPr>
            </a:pPr>
            <a:r>
              <a:t>只允许SELECT查询</a:t>
            </a:r>
          </a:p>
          <a:p>
            <a:pPr algn="ctr">
              <a:spcAft>
                <a:spcPts val="600"/>
              </a:spcAft>
              <a:defRPr sz="1300">
                <a:solidFill>
                  <a:srgbClr val="757575"/>
                </a:solidFill>
              </a:defRPr>
            </a:pPr>
            <a:r>
              <a:t>禁止INSERT/UPDATE</a:t>
            </a:r>
          </a:p>
          <a:p>
            <a:pPr algn="ctr">
              <a:spcAft>
                <a:spcPts val="600"/>
              </a:spcAft>
              <a:defRPr sz="1300">
                <a:solidFill>
                  <a:srgbClr val="757575"/>
                </a:solidFill>
              </a:defRPr>
            </a:pPr>
            <a:r>
              <a:t>DELETE/DROP等操作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192000" y="2520000"/>
            <a:ext cx="288000" cy="360000"/>
          </a:xfrm>
          <a:prstGeom prst="right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80000" y="1620000"/>
            <a:ext cx="2520000" cy="21600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34000" y="1692000"/>
            <a:ext cx="2412000" cy="720000"/>
          </a:xfrm>
          <a:prstGeom prst="roundRect">
            <a:avLst>
              <a:gd name="adj" fmla="val 39439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字段名校验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0000" y="2520000"/>
            <a:ext cx="2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>
                <a:solidFill>
                  <a:srgbClr val="757575"/>
                </a:solidFill>
              </a:defRPr>
            </a:pPr>
            <a:r>
              <a:t>对比数据库Schema</a:t>
            </a:r>
          </a:p>
          <a:p>
            <a:pPr algn="ctr">
              <a:spcAft>
                <a:spcPts val="600"/>
              </a:spcAft>
              <a:defRPr sz="1300">
                <a:solidFill>
                  <a:srgbClr val="757575"/>
                </a:solidFill>
              </a:defRPr>
            </a:pPr>
            <a:r>
              <a:t>检查表名字段名</a:t>
            </a:r>
          </a:p>
          <a:p>
            <a:pPr algn="ctr">
              <a:spcAft>
                <a:spcPts val="600"/>
              </a:spcAft>
              <a:defRPr sz="1300">
                <a:solidFill>
                  <a:srgbClr val="757575"/>
                </a:solidFill>
              </a:defRPr>
            </a:pPr>
            <a:r>
              <a:t>是否真实存在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072000" y="2520000"/>
            <a:ext cx="288000" cy="360000"/>
          </a:xfrm>
          <a:prstGeom prst="rightArrow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360000" y="1620000"/>
            <a:ext cx="2520000" cy="216000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414000" y="1674000"/>
            <a:ext cx="2412000" cy="720000"/>
          </a:xfrm>
          <a:prstGeom prst="roundRect">
            <a:avLst>
              <a:gd name="adj" fmla="val 4557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自动纠错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40000" y="2520000"/>
            <a:ext cx="2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>
                <a:solidFill>
                  <a:srgbClr val="757575"/>
                </a:solidFill>
              </a:defRPr>
            </a:pPr>
            <a:r>
              <a:t>错误信息反馈LLM</a:t>
            </a:r>
          </a:p>
          <a:p>
            <a:pPr algn="ctr">
              <a:spcAft>
                <a:spcPts val="600"/>
              </a:spcAft>
              <a:defRPr sz="1300">
                <a:solidFill>
                  <a:srgbClr val="757575"/>
                </a:solidFill>
              </a:defRPr>
            </a:pPr>
            <a:r>
              <a:t>自动修正后重试</a:t>
            </a:r>
          </a:p>
          <a:p>
            <a:pPr algn="ctr">
              <a:spcAft>
                <a:spcPts val="600"/>
              </a:spcAft>
              <a:defRPr sz="1300">
                <a:solidFill>
                  <a:srgbClr val="757575"/>
                </a:solidFill>
              </a:defRPr>
            </a:pPr>
            <a:r>
              <a:t>最多3次确保可靠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0000" y="4140000"/>
            <a:ext cx="10800000" cy="1080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80000" y="4248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C853"/>
                </a:solidFill>
              </a:defRPr>
            </a:pPr>
            <a:r>
              <a:t>SQL生成准确率：88%（测试集20+用例）</a:t>
            </a:r>
          </a:p>
          <a:p>
            <a:pPr>
              <a:defRPr sz="1300">
                <a:solidFill>
                  <a:srgbClr val="757575"/>
                </a:solidFill>
              </a:defRPr>
            </a:pPr>
            <a:r>
              <a:t>简单聚合查询准确率接近100%，复杂多步推理问题为主要失分点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00" y="558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12121"/>
                </a:solidFill>
              </a:defRPr>
            </a:pPr>
            <a:r>
              <a:t>错误处理三层防护：</a:t>
            </a:r>
          </a:p>
          <a:p>
            <a:pPr>
              <a:spcAft>
                <a:spcPts val="400"/>
              </a:spcAft>
              <a:defRPr sz="1300">
                <a:solidFill>
                  <a:srgbClr val="757575"/>
                </a:solidFill>
              </a:defRPr>
            </a:pPr>
            <a:r>
              <a:t>  1. 自动纠错：错误信息反馈LLM重试，修复80%错误</a:t>
            </a:r>
          </a:p>
          <a:p>
            <a:pPr>
              <a:spcAft>
                <a:spcPts val="400"/>
              </a:spcAft>
              <a:defRPr sz="1300">
                <a:solidFill>
                  <a:srgbClr val="757575"/>
                </a:solidFill>
              </a:defRPr>
            </a:pPr>
            <a:r>
              <a:t>  2. 透明展示：SQL始终展示给用户核对</a:t>
            </a:r>
          </a:p>
          <a:p>
            <a:pPr>
              <a:spcAft>
                <a:spcPts val="400"/>
              </a:spcAft>
              <a:defRPr sz="1300">
                <a:solidFill>
                  <a:srgbClr val="757575"/>
                </a:solidFill>
              </a:defRPr>
            </a:pPr>
            <a:r>
              <a:t>  3. 结果验证：异常结果提醒用户换种问法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12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52000"/>
            <a:ext cx="12192119" cy="108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288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9800"/>
                </a:solidFill>
              </a:defRPr>
            </a:pPr>
            <a:r>
              <a:t>05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系统演示与典型场景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000" y="1548000"/>
            <a:ext cx="2088000" cy="72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简单查询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2448000"/>
            <a:ext cx="2160000" cy="827999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8000" y="2592000"/>
            <a:ext cx="194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212121"/>
                </a:solidFill>
              </a:defRPr>
            </a:pPr>
            <a:r>
              <a:t>"今年Q2总营收是多少"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3456000"/>
            <a:ext cx="2160000" cy="827999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8000" y="3600000"/>
            <a:ext cx="194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212121"/>
                </a:solidFill>
              </a:defRPr>
            </a:pPr>
            <a:r>
              <a:t>"收入最高的5个客户"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62000" y="1548000"/>
            <a:ext cx="2088000" cy="720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多维分析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8000" y="2448000"/>
            <a:ext cx="2160000" cy="827999"/>
          </a:xfrm>
          <a:prstGeom prst="roundRect">
            <a:avLst/>
          </a:prstGeom>
          <a:solidFill>
            <a:srgbClr val="E0F7FA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16000" y="2592000"/>
            <a:ext cx="194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212121"/>
                </a:solidFill>
              </a:defRPr>
            </a:pPr>
            <a:r>
              <a:t>"华东区各月销售收入"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8000" y="3456000"/>
            <a:ext cx="2160000" cy="827999"/>
          </a:xfrm>
          <a:prstGeom prst="roundRect">
            <a:avLst/>
          </a:prstGeom>
          <a:solidFill>
            <a:srgbClr val="E0F7FA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16000" y="3600000"/>
            <a:ext cx="194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212121"/>
                </a:solidFill>
              </a:defRPr>
            </a:pPr>
            <a:r>
              <a:t>"各产品线年度毛利率排名"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30000" y="1548000"/>
            <a:ext cx="2088000" cy="720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同比环比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6000" y="2448000"/>
            <a:ext cx="2160000" cy="827999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84000" y="2592000"/>
            <a:ext cx="194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212121"/>
                </a:solidFill>
              </a:defRPr>
            </a:pPr>
            <a:r>
              <a:t>"Q2毛利率同比变化"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6000" y="3456000"/>
            <a:ext cx="2160000" cy="827999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84000" y="3600000"/>
            <a:ext cx="194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212121"/>
                </a:solidFill>
              </a:defRPr>
            </a:pPr>
            <a:r>
              <a:t>"本月费用环比增长多少"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97999" y="1548000"/>
            <a:ext cx="2088000" cy="7200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异常检测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43999" y="2448000"/>
            <a:ext cx="2160000" cy="827999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51999" y="2592000"/>
            <a:ext cx="194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212121"/>
                </a:solidFill>
              </a:defRPr>
            </a:pPr>
            <a:r>
              <a:t>"预算执行率低于80%的部门"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3999" y="3456000"/>
            <a:ext cx="2160000" cy="827999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51999" y="3600000"/>
            <a:ext cx="194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212121"/>
                </a:solidFill>
              </a:defRPr>
            </a:pPr>
            <a:r>
              <a:t>"费用率连续3月上升的部门"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66000" y="1548000"/>
            <a:ext cx="2088000" cy="7200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综合分析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12000" y="2448000"/>
            <a:ext cx="2160000" cy="827999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20000" y="2592000"/>
            <a:ext cx="194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212121"/>
                </a:solidFill>
              </a:defRPr>
            </a:pPr>
            <a:r>
              <a:t>"逾期超30天的应收账款"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12000" y="3456000"/>
            <a:ext cx="2160000" cy="827999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20000" y="3600000"/>
            <a:ext cx="194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212121"/>
                </a:solidFill>
              </a:defRPr>
            </a:pPr>
            <a:r>
              <a:t>"给我一份本月经营简报"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0000" y="4680000"/>
            <a:ext cx="10800000" cy="19800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80000" y="4788000"/>
            <a:ext cx="100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73E8"/>
                </a:solidFill>
              </a:defRPr>
            </a:pPr>
            <a:r>
              <a:t>演示流程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1. 自然语言输入 -&gt; AI生成SQL -&gt; 执行查询 -&gt; 结果+图表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2. AI自动解读（数据摘要+关键发现+风险提示+行动建议）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3. 经营异常自动检测 -&gt; AI分析原因 -&gt; 给出建议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4. 一键生成经营简报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12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52000"/>
            <a:ext cx="12192119" cy="108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288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9800"/>
                </a:solidFill>
              </a:defRPr>
            </a:pPr>
            <a:r>
              <a:t>05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系统演示：问数示例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" y="1512000"/>
            <a:ext cx="10800000" cy="16200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00000" y="1620000"/>
            <a:ext cx="1080000" cy="432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简单查询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60000" y="1620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121"/>
                </a:solidFill>
              </a:defRPr>
            </a:pPr>
            <a:r>
              <a:t>"2025年各区域销售额是多少"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" y="2052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A73E8"/>
                </a:solidFill>
                <a:latin typeface="Consolas"/>
              </a:defRPr>
            </a:pPr>
            <a:r>
              <a:t>SQL: SELECT region, SUM(amount) FROM sales_order WHERE strftime('%Y',order_date)='2025' GROUP BY region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2519999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</a:defRPr>
            </a:pPr>
            <a:r>
              <a:t>华南523万 | 华北450万 | 华东436万 | 西南384万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3240000"/>
            <a:ext cx="10800000" cy="1620000"/>
          </a:xfrm>
          <a:prstGeom prst="roundRect">
            <a:avLst/>
          </a:prstGeom>
          <a:solidFill>
            <a:srgbClr val="E0F7FA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00000" y="3348000"/>
            <a:ext cx="1080000" cy="43200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多维分析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0000" y="3348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121"/>
                </a:solidFill>
              </a:defRPr>
            </a:pPr>
            <a:r>
              <a:t>"各产品类别利润率是多少"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3780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BCD4"/>
                </a:solidFill>
                <a:latin typeface="Consolas"/>
              </a:defRPr>
            </a:pPr>
            <a:r>
              <a:t>SQL: SELECT p.category, ROUND((SUM(s.amount)-SUM(s.cost))*100/SUM(s.amount),1) FROM sales_order s JOIN product p ON s.product_id=p.id GROUP BY p.category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000" y="4247999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</a:defRPr>
            </a:pPr>
            <a:r>
              <a:t>硬件40.9% | 软件60.4% | 服务59.7%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0000" y="4968000"/>
            <a:ext cx="10800000" cy="1620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00000" y="5076000"/>
            <a:ext cx="1080000" cy="43200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同比分析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60000" y="5076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121"/>
                </a:solidFill>
              </a:defRPr>
            </a:pPr>
            <a:r>
              <a:t>"2025年各月销售同比变化"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000" y="5508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C853"/>
                </a:solidFill>
                <a:latin typeface="Consolas"/>
              </a:defRPr>
            </a:pPr>
            <a:r>
              <a:t>SQL: SELECT month, (cur-prev)*100/prev FROM 2025 JOIN 2024 ON month...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0000" y="5975999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</a:defRPr>
            </a:pPr>
            <a:r>
              <a:t>3月-30.1% | 4月-46.3% | 其余月份正常波动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12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52000"/>
            <a:ext cx="12192119" cy="1080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288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7B1FA2"/>
                </a:solidFill>
              </a:defRPr>
            </a:pPr>
            <a:r>
              <a:t>06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AI vs 传统方案对比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440000"/>
            <a:ext cx="2880000" cy="576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对比维度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0" y="1440000"/>
            <a:ext cx="3600000" cy="576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传统BI方案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0" y="1440000"/>
            <a:ext cx="4320000" cy="576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AI方案（本系统）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2106000"/>
            <a:ext cx="2880000" cy="57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12121"/>
                </a:solidFill>
              </a:defRPr>
            </a:pPr>
            <a:r>
              <a:t>查询方式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0" y="2106000"/>
            <a:ext cx="3600000" cy="57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757575"/>
                </a:solidFill>
              </a:defRPr>
            </a:pPr>
            <a:r>
              <a:t>拖拽报表组件或手写SQL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0" y="2106000"/>
            <a:ext cx="4320000" cy="57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C853"/>
                </a:solidFill>
              </a:defRPr>
            </a:pPr>
            <a:r>
              <a:t>自然语言对话，会说话就行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0000" y="2772000"/>
            <a:ext cx="2880000" cy="57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12121"/>
                </a:solidFill>
              </a:defRPr>
            </a:pPr>
            <a:r>
              <a:t>响应时间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0" y="2772000"/>
            <a:ext cx="3600000" cy="57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757575"/>
                </a:solidFill>
              </a:defRPr>
            </a:pPr>
            <a:r>
              <a:t>小时到天级，需排队等BI团队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0" y="2772000"/>
            <a:ext cx="4320000" cy="57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C853"/>
                </a:solidFill>
              </a:defRPr>
            </a:pPr>
            <a:r>
              <a:t>秒级响应（&lt;10秒），即时返回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" y="3438000"/>
            <a:ext cx="2880000" cy="57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12121"/>
                </a:solidFill>
              </a:defRPr>
            </a:pPr>
            <a:r>
              <a:t>使用门槛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0" y="3438000"/>
            <a:ext cx="3600000" cy="57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757575"/>
                </a:solidFill>
              </a:defRPr>
            </a:pPr>
            <a:r>
              <a:t>需要培训，至少懂SQL基础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0000" y="3438000"/>
            <a:ext cx="4320000" cy="57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C853"/>
                </a:solidFill>
              </a:defRPr>
            </a:pPr>
            <a:r>
              <a:t>零门槛，管理层直接使用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000" y="4104000"/>
            <a:ext cx="2880000" cy="57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12121"/>
                </a:solidFill>
              </a:defRPr>
            </a:pPr>
            <a:r>
              <a:t>覆盖场景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0" y="4104000"/>
            <a:ext cx="3600000" cy="57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757575"/>
                </a:solidFill>
              </a:defRPr>
            </a:pPr>
            <a:r>
              <a:t>预设报表，固定维度组合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0000" y="4104000"/>
            <a:ext cx="4320000" cy="57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C853"/>
                </a:solidFill>
              </a:defRPr>
            </a:pPr>
            <a:r>
              <a:t>任意维度动态生成，无限组合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0000" y="4770000"/>
            <a:ext cx="2880000" cy="57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12121"/>
                </a:solidFill>
              </a:defRPr>
            </a:pPr>
            <a:r>
              <a:t>分析深度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0000" y="4770000"/>
            <a:ext cx="3600000" cy="57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757575"/>
                </a:solidFill>
              </a:defRPr>
            </a:pPr>
            <a:r>
              <a:t>只给裸数据，不含解读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0000" y="4770000"/>
            <a:ext cx="4320000" cy="57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C853"/>
                </a:solidFill>
              </a:defRPr>
            </a:pPr>
            <a:r>
              <a:t>数据+解读+风险提示+行动建议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0000" y="5436000"/>
            <a:ext cx="2880000" cy="57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12121"/>
                </a:solidFill>
              </a:defRPr>
            </a:pPr>
            <a:r>
              <a:t>异常检测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00000" y="5436000"/>
            <a:ext cx="3600000" cy="57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757575"/>
                </a:solidFill>
              </a:defRPr>
            </a:pPr>
            <a:r>
              <a:t>人工巡检，月底才发现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00000" y="5436000"/>
            <a:ext cx="4320000" cy="57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C853"/>
                </a:solidFill>
              </a:defRPr>
            </a:pPr>
            <a:r>
              <a:t>AI逐指标扫描，实时预警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0000" y="6102000"/>
            <a:ext cx="2880000" cy="57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212121"/>
                </a:solidFill>
              </a:defRPr>
            </a:pPr>
            <a:r>
              <a:t>扩展成本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00000" y="6102000"/>
            <a:ext cx="3600000" cy="57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757575"/>
                </a:solidFill>
              </a:defRPr>
            </a:pPr>
            <a:r>
              <a:t>新增需求需开发排期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00000" y="6102000"/>
            <a:ext cx="4320000" cy="57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C853"/>
                </a:solidFill>
              </a:defRPr>
            </a:pPr>
            <a:r>
              <a:t>无需开发，自然语言覆盖新场景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0000" y="6552000"/>
            <a:ext cx="10800000" cy="251999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80000" y="6552000"/>
            <a:ext cx="10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效率提升99.9%  |  准确率88%  |  BI重复工作减少70%  |  年化节省约21万元  |  覆盖1172笔订单数据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12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52000"/>
            <a:ext cx="12192119" cy="1080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288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53935"/>
                </a:solidFill>
              </a:defRPr>
            </a:pPr>
            <a:r>
              <a:t>06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业务价值与创新点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1548000"/>
            <a:ext cx="3600000" cy="28800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0000" y="2700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121"/>
                </a:solidFill>
              </a:defRPr>
            </a:pPr>
            <a:r>
              <a:rPr dirty="0" err="1"/>
              <a:t>问数响应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00000" y="2988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</a:defRPr>
            </a:pPr>
            <a:r>
              <a:t>天级-&gt;秒级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3276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3E8"/>
                </a:solidFill>
              </a:defRPr>
            </a:pPr>
            <a:r>
              <a:t>提升99.9%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3538229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121"/>
                </a:solidFill>
              </a:defRPr>
            </a:pPr>
            <a:r>
              <a:rPr dirty="0" err="1"/>
              <a:t>BI工作量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899999" y="3808229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</a:defRPr>
            </a:pPr>
            <a:r>
              <a:t>重复取数减少70%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032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3E8"/>
                </a:solidFill>
              </a:defRPr>
            </a:pPr>
            <a:r>
              <a:rPr dirty="0" err="1"/>
              <a:t>释放高价值分析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4500000" y="1548000"/>
            <a:ext cx="3600000" cy="2880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80000" y="2700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121"/>
                </a:solidFill>
              </a:defRPr>
            </a:pPr>
            <a:r>
              <a:t>SQL准确率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0000" y="2988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</a:defRPr>
            </a:pPr>
            <a:r>
              <a:t>88%测试集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0000" y="3276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53"/>
                </a:solidFill>
              </a:defRPr>
            </a:pPr>
            <a:r>
              <a:t>自动纠错兜底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0000" y="3546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121"/>
                </a:solidFill>
              </a:defRPr>
            </a:pPr>
            <a:r>
              <a:t>理解偏差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0000" y="3798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</a:defRPr>
            </a:pPr>
            <a:r>
              <a:t>消除5%人工偏差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9998" y="4014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53"/>
                </a:solidFill>
              </a:defRPr>
            </a:pPr>
            <a:r>
              <a:t>语义精准理解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80000" y="1548000"/>
            <a:ext cx="3600000" cy="288000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60000" y="2556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121"/>
                </a:solidFill>
              </a:defRPr>
            </a:pPr>
            <a:r>
              <a:rPr dirty="0" err="1"/>
              <a:t>预警时效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8460000" y="2844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</a:defRPr>
            </a:pPr>
            <a:r>
              <a:rPr dirty="0" err="1"/>
              <a:t>月底</a:t>
            </a:r>
            <a:r>
              <a:rPr dirty="0"/>
              <a:t>-&gt;</a:t>
            </a:r>
            <a:r>
              <a:rPr dirty="0" err="1"/>
              <a:t>实时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8460000" y="3078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53935"/>
                </a:solidFill>
              </a:defRPr>
            </a:pPr>
            <a:r>
              <a:t>风险前置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60000" y="3285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121"/>
                </a:solidFill>
              </a:defRPr>
            </a:pPr>
            <a:r>
              <a:rPr dirty="0" err="1"/>
              <a:t>数据覆盖</a:t>
            </a:r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8460000" y="3538229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</a:defRPr>
            </a:pPr>
            <a:r>
              <a:t>1172笔订单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60000" y="3744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53935"/>
                </a:solidFill>
              </a:defRPr>
            </a:pPr>
            <a:r>
              <a:t>全面扫描不遗漏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0000" y="4680000"/>
            <a:ext cx="10800000" cy="19800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80000" y="4788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</a:defRPr>
            </a:pPr>
            <a:r>
              <a:t>三大创新点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0000" y="5220000"/>
            <a:ext cx="1008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1. 五层Prompt注入策略：角色+Schema+规则+示例+问题，系统化提升准确率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2. SQL安全校验+自动纠错：三层防护+3次重试，确保查询安全可靠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3. 多模型热切换：DeepSeek/Qwen/GPT一键切换，不绑定单一供应商</a:t>
            </a:r>
          </a:p>
        </p:txBody>
      </p:sp>
      <p:sp>
        <p:nvSpPr>
          <p:cNvPr id="5" name="Rectangle 4"/>
          <p:cNvSpPr/>
          <p:nvPr/>
        </p:nvSpPr>
        <p:spPr>
          <a:xfrm>
            <a:off x="774000" y="1584000"/>
            <a:ext cx="3491999" cy="9000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效率提升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53999" y="1584000"/>
            <a:ext cx="3491999" cy="900000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准确率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4000" y="1602000"/>
            <a:ext cx="3491999" cy="900000"/>
          </a:xfrm>
          <a:prstGeom prst="roundRect">
            <a:avLst>
              <a:gd name="adj" fmla="val 41892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风险控制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12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52000"/>
            <a:ext cx="12192119" cy="10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288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47A1"/>
                </a:solidFill>
              </a:defRPr>
            </a:pPr>
            <a:r>
              <a:t>08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总结与展望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" y="1620000"/>
            <a:ext cx="10800000" cy="21600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0000" y="1728000"/>
            <a:ext cx="1008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73E8"/>
                </a:solidFill>
              </a:defRPr>
            </a:pPr>
            <a:r>
              <a:t>项目总结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  本项目以企业财务经营分析为场景，针对管理层看数难、看数慢的痛点，构建了基于大模型的NL2SQL智能问数系统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  数据基础：1172笔销售订单（收入1792万）、744笔费用记录（466万）、15个部门、10个产品、2年数据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  核心创新：五层Prompt注入策略（角色+Schema+规则+Few-shot+问题），SQL生成准确率达88%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  三大AI能力：自然语言问数（翻译官）、经营分析解读（分析师）、SQL校验纠错（守门员）</a:t>
            </a:r>
          </a:p>
          <a:p>
            <a:pPr>
              <a:spcAft>
                <a:spcPts val="800"/>
              </a:spcAft>
              <a:defRPr sz="1200">
                <a:solidFill>
                  <a:srgbClr val="212121"/>
                </a:solidFill>
              </a:defRPr>
            </a:pPr>
            <a:r>
              <a:t>  业务价值：效率提升99.9%，BI重复工作减少70%，异常实时预警，年化节省约21万元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4140000"/>
            <a:ext cx="10800000" cy="2340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0000" y="4248000"/>
            <a:ext cx="1008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C853"/>
                </a:solidFill>
              </a:defRPr>
            </a:pPr>
            <a:r>
              <a:t>未来展望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  1. 反问澄清机制：当用户问题模糊时，AI主动反问确认，而非猜测默认值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  2. 对接真实数据库：架构已预留MySQL/PostgreSQL接口，Schema动态注入可适配不同表结构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  3. 多轮对话记忆：支持追问式分析，如先问总营收，再追问华东区占比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  4. 权限管理：按角色控制可查询的数据范围，满足企业合规要求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  5. 更多AI能力：自动生成PPT简报、语音问数、移动端适配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000000" y="0"/>
            <a:ext cx="3240000" cy="216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080000" y="0"/>
            <a:ext cx="2160000" cy="1440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360000" y="360000"/>
            <a:ext cx="1080000" cy="10800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800000" y="5760000"/>
            <a:ext cx="900000" cy="9000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0000" y="1800000"/>
            <a:ext cx="10080000" cy="21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感谢聆听</a:t>
            </a:r>
          </a:p>
          <a:p>
            <a:pPr algn="ctr">
              <a:defRPr sz="2800">
                <a:solidFill>
                  <a:srgbClr val="BBDEFB"/>
                </a:solidFill>
              </a:defRPr>
            </a:pPr>
            <a:r>
              <a:t>Thank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20000"/>
            <a:ext cx="12192119" cy="720000"/>
          </a:xfrm>
          <a:prstGeom prst="rect">
            <a:avLst/>
          </a:prstGeom>
          <a:solidFill>
            <a:srgbClr val="0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80000" y="622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0CAF9"/>
                </a:solidFill>
              </a:defRPr>
            </a:pPr>
            <a:r>
              <a:t>NL2SQL 财务智能问数系统  |  2026年7月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1232</Words>
  <Application>Microsoft Office PowerPoint</Application>
  <PresentationFormat>宽屏</PresentationFormat>
  <Paragraphs>288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珏睿 苏</cp:lastModifiedBy>
  <cp:revision>6</cp:revision>
  <dcterms:created xsi:type="dcterms:W3CDTF">2013-01-27T09:14:16Z</dcterms:created>
  <dcterms:modified xsi:type="dcterms:W3CDTF">2026-07-04T15:51:45Z</dcterms:modified>
  <cp:category/>
</cp:coreProperties>
</file>