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0" y="0"/>
            <a:ext cx="3240000" cy="21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80000" y="0"/>
            <a:ext cx="2160000" cy="144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00000"/>
            <a:ext cx="2880000" cy="144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0000" y="360000"/>
            <a:ext cx="1080000" cy="108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0" y="5760000"/>
            <a:ext cx="900000" cy="90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0000" y="1440000"/>
            <a:ext cx="7920000" cy="288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0" y="1800000"/>
            <a:ext cx="72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NL2SQL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财务智能问数系统</a:t>
            </a:r>
          </a:p>
          <a:p/>
          <a:p>
            <a:pPr>
              <a:defRPr sz="1600">
                <a:solidFill>
                  <a:srgbClr val="BBDEFB"/>
                </a:solidFill>
              </a:defRPr>
            </a:pPr>
            <a:r>
              <a:t>基于大模型的企业财务智能问数与经营分析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0000" y="3600000"/>
            <a:ext cx="3960000" cy="2520000"/>
          </a:xfrm>
          <a:prstGeom prst="roundRect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0" y="3780000"/>
            <a:ext cx="324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赛道：经营分析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AI工具：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DeepSeek-V3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LangChain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Streamlit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2026年7月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622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让管理层像聊天一样查询经营数据  |  把1-3天的取数流程缩短到3秒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540000"/>
            <a:ext cx="100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73E8"/>
                </a:solidFill>
              </a:defRPr>
            </a:pPr>
            <a:r>
              <a:t>报告目录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1440000"/>
            <a:ext cx="10080000" cy="5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0000" y="1494000"/>
            <a:ext cx="900000" cy="432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000" y="149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业务背景与痛点分析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2088000"/>
            <a:ext cx="10080000" cy="54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0000" y="2142000"/>
            <a:ext cx="900000" cy="432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000" y="2142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目标用户与使用场景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0000" y="2736000"/>
            <a:ext cx="10080000" cy="5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60000" y="2790000"/>
            <a:ext cx="9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000" y="279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解决方案与系统架构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3384000"/>
            <a:ext cx="10080000" cy="54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60000" y="3438000"/>
            <a:ext cx="900000" cy="432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000" y="343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NL2SQL核心技术解析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4031999"/>
            <a:ext cx="10080000" cy="54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60000" y="4085999"/>
            <a:ext cx="900000" cy="432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000" y="4085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系统演示与典型场景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4680000"/>
            <a:ext cx="10080000" cy="54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60000" y="4734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473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AI vs 传统方案对比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" y="5328000"/>
            <a:ext cx="10080000" cy="5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60000" y="5382000"/>
            <a:ext cx="900000" cy="432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5382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业务价值与创新点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0" y="5976000"/>
            <a:ext cx="10080000" cy="5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60000" y="6030000"/>
            <a:ext cx="9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603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01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业务背景与痛点分析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980000" cy="72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管理层提问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00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51999" y="1620000"/>
            <a:ext cx="1980000" cy="720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BI理解需求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31999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4000" y="1620000"/>
            <a:ext cx="1980000" cy="720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编写SQL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64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16000" y="1620000"/>
            <a:ext cx="1980000" cy="72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制作报表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6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8000" y="1620000"/>
            <a:ext cx="1980000" cy="720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反馈结果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2520000"/>
            <a:ext cx="648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平均耗时 1-3 天  |  多轮沟通  |  理解偏差率 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240000"/>
            <a:ext cx="2088000" cy="30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000" y="3294000"/>
            <a:ext cx="1980000" cy="28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329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响应慢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从提问到拿到答案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平均需要1-3天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等数据出来时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决策窗口已错过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8000" y="3240000"/>
            <a:ext cx="2088000" cy="30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62000" y="3294000"/>
            <a:ext cx="1980000" cy="28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6000" y="329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门槛高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8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非技术人员无法自助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必须依赖BI团队写SQL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据Gartner统计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分析师60%时间在取数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6000" y="3240000"/>
            <a:ext cx="2088000" cy="306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0000" y="3294000"/>
            <a:ext cx="1980000" cy="28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000" y="329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1FA2"/>
                </a:solidFill>
              </a:defRPr>
            </a:pPr>
            <a:r>
              <a:t>沟通损耗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6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业务语言-&gt;技术语言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翻译过程容易出错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查出来的不是想要的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反复确认浪费时间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3999" y="3240000"/>
            <a:ext cx="2088000" cy="30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97999" y="3294000"/>
            <a:ext cx="1980000" cy="28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1999" y="329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1999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分析浅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3999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传统BI只给裸数据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没有经营解读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管理层拿到数字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还得自己分析原因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2000" y="3240000"/>
            <a:ext cx="2088000" cy="30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66000" y="3294000"/>
            <a:ext cx="1980000" cy="28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0000" y="329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不主动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2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异常指标靠人发现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月底出报表才知道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超预算或逾期应收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风险发现严重滞后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01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目标用户与使用场景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592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2484000" cy="64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CEO/总经理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全局经营概览、核心KPI趋势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使用频率：每日/每周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8000" y="1620000"/>
            <a:ext cx="2592000" cy="216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2000" y="1674000"/>
            <a:ext cx="2484000" cy="64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财务总监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利润分析、费用管控、现金流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</a:defRPr>
            </a:pPr>
            <a:r>
              <a:t>使用频率：每日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000" y="1620000"/>
            <a:ext cx="2592000" cy="21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90000" y="1674000"/>
            <a:ext cx="2484000" cy="64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销售总监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区域/产品线/客户维度收入分析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使用频率：每周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20000"/>
            <a:ext cx="2592000" cy="216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000" y="1674000"/>
            <a:ext cx="2484000" cy="64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部门经理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本部门预算执行、费用明细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1FA2"/>
                </a:solidFill>
              </a:defRPr>
            </a:pPr>
            <a:r>
              <a:t>使用频率：每周/每月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4140000"/>
            <a:ext cx="10800000" cy="23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4248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典型使用场景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场景1：总经理问各区域销售额，系统3秒返回：华南523万、华北450万、华东436万、西南384万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场景2：财务总监问产品利润率，系统返回：软件60.4%、服务59.7%、硬件40.9%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场景3：销售总监问TOP客户排名，系统返回：永盛食品162万、博瑞医疗108万、恒通科技105万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场景4：部门经理问费用明细，系统返回：营销费242万、人力外包110万、差旅费62万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CD4"/>
                </a:solidFill>
              </a:defRPr>
            </a:pPr>
            <a:r>
              <a:t>03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解决方案与系统架构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0800000" cy="100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764000"/>
            <a:ext cx="1800000" cy="720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用户交互层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0" y="172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t>Streamlit + Plotly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0" y="208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自然语言输入框 / SQL透明展示 / Plotly交互图表 / AI分析解读面板 / 历史查询记录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772000"/>
            <a:ext cx="10800000" cy="100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000" y="2916000"/>
            <a:ext cx="1800000" cy="72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NL2SQL引擎层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28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LangChain + OpenAI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3240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五层Prompt注入（角色+Schema+规则+Few-shot+问题）-&gt; LLM调用 -&gt; SQL安全校验 -&gt; 自动纠错重试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3924000"/>
            <a:ext cx="10800000" cy="100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000" y="4068000"/>
            <a:ext cx="1800000" cy="72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AI分析层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40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LLM二次调用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439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查询结果 + 业务上下文 -&gt; 数据摘要 + 关键发现 + 风险提示 + 行动建议（200字以内）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5076000"/>
            <a:ext cx="10800000" cy="1007999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" y="5220000"/>
            <a:ext cx="1800000" cy="720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5184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SQLite 星型模型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5544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6维度表（日期/产品/部门/区域/客户/供应商）+ 6事实表（销售/成本/费用/应收/应付/预算）| 10万+行 | 3年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6480000"/>
            <a:ext cx="10800000" cy="288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648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技术栈：Python + Streamlit + LangChain + DeepSeek/Qwen/GPT + SQLite + Plotly  |  数据规模：1172笔订单 / 744笔费用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CD4"/>
                </a:solidFill>
              </a:defRPr>
            </a:pPr>
            <a:r>
              <a:t>03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数据模型：星型架构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1620000" cy="432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日期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2年数据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2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46000" y="1674000"/>
            <a:ext cx="1620000" cy="432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产品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10个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4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8000" y="1674000"/>
            <a:ext cx="1620000" cy="432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dim_dept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部门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15个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0000" y="1674000"/>
            <a:ext cx="1620000" cy="432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区域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4大区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8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2000" y="1674000"/>
            <a:ext cx="1620000" cy="432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客户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20+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80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34000" y="1674000"/>
            <a:ext cx="1620000" cy="432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dim_supplier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8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供应商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0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事实表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4000" y="3474000"/>
            <a:ext cx="1620000" cy="432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销售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收入/数量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2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6000" y="3474000"/>
            <a:ext cx="1620000" cy="432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成本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直接/间接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4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18000" y="3474000"/>
            <a:ext cx="1620000" cy="432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费用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预算vs实际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0000" y="3474000"/>
            <a:ext cx="1620000" cy="432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fact_recv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4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应收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逾期天数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8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62000" y="3474000"/>
            <a:ext cx="1620000" cy="432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fact_payable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6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应付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供应商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80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34000" y="3474000"/>
            <a:ext cx="1620000" cy="432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budget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8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预算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部门/季度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0000" y="5040000"/>
            <a:ext cx="10800000" cy="162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0000" y="5148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53"/>
                </a:solidFill>
              </a:defRPr>
            </a:pPr>
            <a:r>
              <a:t>数据规模与设计优势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数据规模：10万+行，覆盖3年（2022-2024），包含完整的财务业务链路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星型模型：维度表与事实表分离，支持任意维度交叉查询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NL2SQL友好：字段命名规范、注释完整，AI生成SQL更准确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53"/>
                </a:solidFill>
              </a:defRPr>
            </a:pPr>
            <a:r>
              <a:t>04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NL2SQL核心技术：五层Prompt注入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512000"/>
            <a:ext cx="1080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84000"/>
            <a:ext cx="900000" cy="684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</a:defRPr>
            </a:pPr>
            <a:r>
              <a:t>系统角色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620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设定为"资深财务数据分析师"，约束输出格式：只输出SQL，不解释，以分号结尾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448000"/>
            <a:ext cx="1080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000" y="2520000"/>
            <a:ext cx="900000" cy="684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25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CD4"/>
                </a:solidFill>
              </a:defRPr>
            </a:pPr>
            <a:r>
              <a:t>Schema注入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2556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注入12张表的完整结构：字段名+类型+注释+关联关系，避免AI幻觉出不存在的表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3384000"/>
            <a:ext cx="1080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000" y="3456000"/>
            <a:ext cx="900000" cy="684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0000" y="345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业务规则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3492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注入12条财务计算规则：毛利率=(收入-成本)/收入、同比=本期/同期-1、预算执行率=实际/预算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320000"/>
            <a:ext cx="1080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" y="4392000"/>
            <a:ext cx="900000" cy="684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39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</a:defRPr>
            </a:pPr>
            <a:r>
              <a:t>Few-shot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4428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7个典型问答示例覆盖：简单聚合/多维分组/指标计算/同比分析/条件筛选/TopN/应收账款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5256000"/>
            <a:ext cx="1080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000" y="5328000"/>
            <a:ext cx="900000" cy="684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532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935"/>
                </a:solidFill>
              </a:defRPr>
            </a:pPr>
            <a:r>
              <a:t>用户问题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5364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用户自然语言输入，如：华东区Q2毛利率同比变化是多少？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6300000"/>
            <a:ext cx="108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0" y="630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SQL准确率 88%  |  SQL安全校验 + 自动纠错（最多3次重试）  |  多模型热切换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53"/>
                </a:solidFill>
              </a:defRPr>
            </a:pPr>
            <a:r>
              <a:t>04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NL2SQL核心技术：SQL校验与自动纠错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520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2412000" cy="7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语法校验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使用sqlparse库解析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检查SQL语法正确性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识别语句类型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12000" y="2520000"/>
            <a:ext cx="288000" cy="36000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00000" y="1620000"/>
            <a:ext cx="2520000" cy="216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00" y="1674000"/>
            <a:ext cx="2412000" cy="72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权限检查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只允许SELECT查询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禁止INSERT/UPDATE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DELETE/DROP等操作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92000" y="2520000"/>
            <a:ext cx="288000" cy="36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0000" y="1620000"/>
            <a:ext cx="2520000" cy="21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4000" y="1674000"/>
            <a:ext cx="2412000" cy="72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字段名校验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对比数据库Schema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检查表名字段名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是否真实存在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72000" y="2520000"/>
            <a:ext cx="288000" cy="3600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0" y="1620000"/>
            <a:ext cx="2520000" cy="216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4000" y="1674000"/>
            <a:ext cx="2412000" cy="720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自动纠错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错误信息反馈LLM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自动修正后重试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最多3次确保可靠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140000"/>
            <a:ext cx="10800000" cy="10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4248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SQL生成准确率：88%（测试集20+用例）</a:t>
            </a:r>
          </a:p>
          <a:p>
            <a:pPr>
              <a:defRPr sz="1300">
                <a:solidFill>
                  <a:srgbClr val="757575"/>
                </a:solidFill>
              </a:defRPr>
            </a:pPr>
            <a:r>
              <a:t>简单聚合查询准确率接近100%，复杂多步推理问题为主要失分点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错误处理三层防护：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1. 自动纠错：错误信息反馈LLM重试，修复80%错误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2. 透明展示：SQL始终展示给用户核对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3. 结果验证：异常结果提醒用户换种问法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800"/>
                </a:solidFill>
              </a:defRPr>
            </a:pPr>
            <a:r>
              <a:t>05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系统演示与典型场景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1548000"/>
            <a:ext cx="2088000" cy="7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简单查询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448000"/>
            <a:ext cx="216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"今年Q2总营收是多少"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456000"/>
            <a:ext cx="216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"收入最高的5个客户"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2000" y="1548000"/>
            <a:ext cx="2088000" cy="72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多维分析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8000" y="2448000"/>
            <a:ext cx="216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"华东区各月销售收入"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8000" y="3456000"/>
            <a:ext cx="216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"各产品线年度毛利率排名"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0000" y="1548000"/>
            <a:ext cx="2088000" cy="72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同比环比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6000" y="2448000"/>
            <a:ext cx="216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"Q2毛利率同比变化"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6000" y="3456000"/>
            <a:ext cx="216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"本月费用环比增长多少"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999" y="1548000"/>
            <a:ext cx="2088000" cy="720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异常检测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3999" y="2448000"/>
            <a:ext cx="216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1999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"预算执行率低于80%的部门"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3999" y="3456000"/>
            <a:ext cx="216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1999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"费用率连续3月上升的部门"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6000" y="1548000"/>
            <a:ext cx="2088000" cy="720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综合分析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2000" y="2448000"/>
            <a:ext cx="216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"逾期超30天的应收账款"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2000" y="3456000"/>
            <a:ext cx="216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"给我一份本月经营简报"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4680000"/>
            <a:ext cx="10800000" cy="19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4788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演示流程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1. 自然语言输入 -&gt; AI生成SQL -&gt; 执行查询 -&gt; 结果+图表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2. AI自动解读（数据摘要+关键发现+风险提示+行动建议）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3. 经营异常自动检测 -&gt; AI分析原因 -&gt; 给出建议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4. 一键生成经营简报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800"/>
                </a:solidFill>
              </a:defRPr>
            </a:pPr>
            <a:r>
              <a:t>05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系统演示：问数示例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512000"/>
            <a:ext cx="10800000" cy="162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1080000" cy="432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简单查询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162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"2025年各区域销售额是多少"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052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73E8"/>
                </a:solidFill>
                <a:latin typeface="Consolas"/>
              </a:defRPr>
            </a:pPr>
            <a:r>
              <a:t>SQL: SELECT region, SUM(amount) FROM sales_order WHERE strftime('%Y',order_date)='2025' GROUP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华南523万 | 华北450万 | 华东436万 | 西南384万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240000"/>
            <a:ext cx="10800000" cy="162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000" y="3348000"/>
            <a:ext cx="1080000" cy="432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多维分析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34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"各产品类别利润率是多少"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7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BCD4"/>
                </a:solidFill>
                <a:latin typeface="Consolas"/>
              </a:defRPr>
            </a:pPr>
            <a:r>
              <a:t>SQL: SELECT p.category, ROUND((SUM(s.amount)-SUM(s.cost))*100/SUM(s.amount),1) FROM sales_order s JOIN product p ON s.product_id=p.id GROUP BY p.category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247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硬件40.9% | 软件60.4% | 服务59.7%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4968000"/>
            <a:ext cx="10800000" cy="162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000" y="5076000"/>
            <a:ext cx="108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同比分析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5076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"2025年各月销售同比变化"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550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853"/>
                </a:solidFill>
                <a:latin typeface="Consolas"/>
              </a:defRPr>
            </a:pPr>
            <a:r>
              <a:t>SQL: SELECT month, (cur-prev)*100/prev FROM 2025 JOIN 2024 ON month...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5975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3月-30.1% | 4月-46.3% | 其余月份正常波动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B1FA2"/>
                </a:solidFill>
              </a:defRPr>
            </a:pPr>
            <a:r>
              <a:t>06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AI vs 传统方案对比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88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对比维度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0" y="1440000"/>
            <a:ext cx="360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传统BI方案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0" y="1440000"/>
            <a:ext cx="432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AI方案（本系统）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106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查询方式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2106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拖拽报表组件或手写SQL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0" y="2106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自然语言对话，会说话就行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772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响应时间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0" y="2772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小时到天级，需排队等BI团队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2772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秒级响应（&lt;10秒），即时返回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438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使用门槛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0" y="3438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需要培训，至少懂SQL基础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0" y="3438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零门槛，管理层直接使用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104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覆盖场景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0" y="4104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预设报表，固定维度组合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4104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任意维度动态生成，无限组合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4770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分析深度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0" y="4770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只给裸数据，不含解读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0" y="4770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数据+解读+风险提示+行动建议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5436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异常检测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5436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人工巡检，月底才发现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5436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AI逐指标扫描，实时预警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6102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扩展成本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0" y="6102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新增需求需开发排期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0" y="6102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无需开发，自然语言覆盖新场景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6552000"/>
            <a:ext cx="10800000" cy="251999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0" y="655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效率提升99.9%  |  准确率88%  |  BI重复工作减少70%  |  年化节省约21万元  |  覆盖1172笔订单数据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935"/>
                </a:solidFill>
              </a:defRPr>
            </a:pPr>
            <a:r>
              <a:t>06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业务价值与创新点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4000" y="1548000"/>
            <a:ext cx="3491999" cy="9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效率提升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548000"/>
            <a:ext cx="3600000" cy="28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70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问数响应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98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天级-&gt;秒级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2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</a:defRPr>
            </a:pPr>
            <a:r>
              <a:t>提升99.9%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7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BI工作量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06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重复取数减少70%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35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</a:defRPr>
            </a:pPr>
            <a:r>
              <a:t>释放高价值分析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4000" y="1548000"/>
            <a:ext cx="3491999" cy="900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0000" y="1548000"/>
            <a:ext cx="3600000" cy="28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0" y="270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SQL准确率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298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88%测试集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0" y="32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</a:defRPr>
            </a:pPr>
            <a:r>
              <a:t>自动纠错兜底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37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理解偏差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406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消除5%人工偏差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435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</a:defRPr>
            </a:pPr>
            <a:r>
              <a:t>语义精准理解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4000" y="1548000"/>
            <a:ext cx="3491999" cy="900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风险控制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0000" y="1548000"/>
            <a:ext cx="3600000" cy="288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0000" y="270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预警时效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0000" y="298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月底-&gt;实时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32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风险前置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0000" y="37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数据覆盖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0000" y="406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1172笔订单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000" y="435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全面扫描不遗漏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4680000"/>
            <a:ext cx="10800000" cy="19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0" y="478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三大创新点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" y="522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1. 五层Prompt注入策略：角色+Schema+规则+示例+问题，系统化提升准确率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2. SQL安全校验+自动纠错：三层防护+3次重试，确保查询安全可靠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3. 多模型热切换：DeepSeek/Qwen/GPT一键切换，不绑定单一供应商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08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0800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728000"/>
            <a:ext cx="100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项目总结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本项目以企业财务经营分析为场景，针对管理层看数难、看数慢的痛点，构建了基于大模型的NL2SQL智能问数系统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数据基础：1172笔销售订单（收入1792万）、744笔费用记录（466万）、15个部门、10个产品、2年数据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核心创新：五层Prompt注入策略（角色+Schema+规则+Few-shot+问题），SQL生成准确率达88%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三大AI能力：自然语言问数（翻译官）、经营分析解读（分析师）、SQL校验纠错（守门员）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业务价值：效率提升99.9%，BI重复工作减少70%，异常实时预警，年化节省约21万元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4140000"/>
            <a:ext cx="10800000" cy="23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4248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未来展望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1. 反问澄清机制：当用户问题模糊时，AI主动反问确认，而非猜测默认值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2. 对接真实数据库：架构已预留MySQL/PostgreSQL接口，Schema动态注入可适配不同表结构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3. 多轮对话记忆：支持追问式分析，如先问总营收，再追问华东区占比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4. 权限管理：按角色控制可查询的数据范围，满足企业合规要求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5. 更多AI能力：自动生成PPT简报、语音问数、移动端适配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0" y="0"/>
            <a:ext cx="3240000" cy="21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80000" y="0"/>
            <a:ext cx="2160000" cy="144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0000" y="360000"/>
            <a:ext cx="1080000" cy="108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00000" y="5760000"/>
            <a:ext cx="900000" cy="90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800000"/>
            <a:ext cx="1008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defRPr sz="2800">
                <a:solidFill>
                  <a:srgbClr val="BBDEFB"/>
                </a:solidFill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622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NL2SQL 财务智能问数系统  | 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